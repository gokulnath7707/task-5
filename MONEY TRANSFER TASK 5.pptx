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5" Type="http://schemas.openxmlformats.org/officeDocument/2006/relationships/slide" Target="slides/slide4.xml" /><Relationship Id="rId10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1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1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1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92324" y="871220"/>
            <a:ext cx="4959350" cy="299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1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2922" y="2558857"/>
            <a:ext cx="7898155" cy="23958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5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5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72"/>
            <a:ext cx="9144000" cy="513435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45186" y="3257550"/>
            <a:ext cx="527050" cy="0"/>
          </a:xfrm>
          <a:custGeom>
            <a:avLst/>
            <a:gdLst/>
            <a:ahLst/>
            <a:cxnLst/>
            <a:rect l="l" t="t" r="r" b="b"/>
            <a:pathLst>
              <a:path w="527050">
                <a:moveTo>
                  <a:pt x="0" y="0"/>
                </a:moveTo>
                <a:lnTo>
                  <a:pt x="527037" y="0"/>
                </a:lnTo>
              </a:path>
            </a:pathLst>
          </a:custGeom>
          <a:ln w="28575">
            <a:solidFill>
              <a:srgbClr val="2136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39953" y="2665602"/>
            <a:ext cx="3027680" cy="1111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60" dirty="0">
                <a:solidFill>
                  <a:srgbClr val="213669"/>
                </a:solidFill>
                <a:latin typeface="Trebuchet MS"/>
                <a:cs typeface="Trebuchet MS"/>
              </a:rPr>
              <a:t>“</a:t>
            </a:r>
            <a:r>
              <a:rPr sz="2400" b="1" spc="-100" dirty="0">
                <a:solidFill>
                  <a:srgbClr val="213669"/>
                </a:solidFill>
                <a:latin typeface="Times New Roman"/>
                <a:cs typeface="Times New Roman"/>
              </a:rPr>
              <a:t>MONEY</a:t>
            </a:r>
            <a:r>
              <a:rPr sz="2400" b="1" spc="-80" dirty="0">
                <a:solidFill>
                  <a:srgbClr val="213669"/>
                </a:solidFill>
                <a:latin typeface="Times New Roman"/>
                <a:cs typeface="Times New Roman"/>
              </a:rPr>
              <a:t> </a:t>
            </a:r>
            <a:r>
              <a:rPr sz="2400" b="1" spc="-105" dirty="0">
                <a:solidFill>
                  <a:srgbClr val="213669"/>
                </a:solidFill>
                <a:latin typeface="Times New Roman"/>
                <a:cs typeface="Times New Roman"/>
              </a:rPr>
              <a:t>TRANSFER</a:t>
            </a:r>
            <a:r>
              <a:rPr sz="2400" b="1" spc="-260" dirty="0">
                <a:solidFill>
                  <a:srgbClr val="213669"/>
                </a:solidFill>
                <a:latin typeface="Trebuchet MS"/>
                <a:cs typeface="Trebuchet MS"/>
              </a:rPr>
              <a:t>”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790"/>
              </a:spcBef>
            </a:pPr>
            <a:r>
              <a:rPr sz="2400" b="1" spc="50" dirty="0">
                <a:solidFill>
                  <a:srgbClr val="213669"/>
                </a:solidFill>
                <a:latin typeface="Trebuchet MS"/>
                <a:cs typeface="Trebuchet MS"/>
              </a:rPr>
              <a:t>T</a:t>
            </a:r>
            <a:r>
              <a:rPr sz="2400" b="1" spc="30" dirty="0">
                <a:solidFill>
                  <a:srgbClr val="213669"/>
                </a:solidFill>
                <a:latin typeface="Trebuchet MS"/>
                <a:cs typeface="Trebuchet MS"/>
              </a:rPr>
              <a:t>a</a:t>
            </a:r>
            <a:r>
              <a:rPr sz="2400" b="1" spc="150" dirty="0">
                <a:solidFill>
                  <a:srgbClr val="213669"/>
                </a:solidFill>
                <a:latin typeface="Trebuchet MS"/>
                <a:cs typeface="Trebuchet MS"/>
              </a:rPr>
              <a:t>sk</a:t>
            </a:r>
            <a:r>
              <a:rPr sz="2400" b="1" spc="-190" dirty="0">
                <a:solidFill>
                  <a:srgbClr val="213669"/>
                </a:solidFill>
                <a:latin typeface="Trebuchet MS"/>
                <a:cs typeface="Trebuchet MS"/>
              </a:rPr>
              <a:t> </a:t>
            </a:r>
            <a:r>
              <a:rPr sz="2400" b="1" spc="60" dirty="0">
                <a:solidFill>
                  <a:srgbClr val="213669"/>
                </a:solidFill>
                <a:latin typeface="Trebuchet MS"/>
                <a:cs typeface="Trebuchet MS"/>
              </a:rPr>
              <a:t>-</a:t>
            </a:r>
            <a:r>
              <a:rPr sz="2400" b="1" spc="-195" dirty="0">
                <a:solidFill>
                  <a:srgbClr val="213669"/>
                </a:solidFill>
                <a:latin typeface="Trebuchet MS"/>
                <a:cs typeface="Trebuchet MS"/>
              </a:rPr>
              <a:t> </a:t>
            </a:r>
            <a:r>
              <a:rPr sz="2400" b="1" spc="215" dirty="0">
                <a:solidFill>
                  <a:srgbClr val="213669"/>
                </a:solidFill>
                <a:latin typeface="Trebuchet MS"/>
                <a:cs typeface="Trebuchet MS"/>
              </a:rPr>
              <a:t>5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74691" y="0"/>
            <a:ext cx="4369308" cy="50186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38555"/>
            <a:ext cx="4733925" cy="4030979"/>
            <a:chOff x="0" y="638555"/>
            <a:chExt cx="4733925" cy="4030979"/>
          </a:xfrm>
        </p:grpSpPr>
        <p:sp>
          <p:nvSpPr>
            <p:cNvPr id="4" name="object 4"/>
            <p:cNvSpPr/>
            <p:nvPr/>
          </p:nvSpPr>
          <p:spPr>
            <a:xfrm>
              <a:off x="0" y="638555"/>
              <a:ext cx="4733925" cy="4030979"/>
            </a:xfrm>
            <a:custGeom>
              <a:avLst/>
              <a:gdLst/>
              <a:ahLst/>
              <a:cxnLst/>
              <a:rect l="l" t="t" r="r" b="b"/>
              <a:pathLst>
                <a:path w="4733925" h="4030979">
                  <a:moveTo>
                    <a:pt x="4733544" y="0"/>
                  </a:moveTo>
                  <a:lnTo>
                    <a:pt x="0" y="0"/>
                  </a:lnTo>
                  <a:lnTo>
                    <a:pt x="0" y="4030979"/>
                  </a:lnTo>
                  <a:lnTo>
                    <a:pt x="4733544" y="4030979"/>
                  </a:lnTo>
                  <a:lnTo>
                    <a:pt x="4733544" y="0"/>
                  </a:lnTo>
                  <a:close/>
                </a:path>
              </a:pathLst>
            </a:custGeom>
            <a:solidFill>
              <a:srgbClr val="213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819911"/>
              <a:ext cx="144780" cy="323215"/>
            </a:xfrm>
            <a:custGeom>
              <a:avLst/>
              <a:gdLst/>
              <a:ahLst/>
              <a:cxnLst/>
              <a:rect l="l" t="t" r="r" b="b"/>
              <a:pathLst>
                <a:path w="144780" h="323215">
                  <a:moveTo>
                    <a:pt x="144780" y="0"/>
                  </a:moveTo>
                  <a:lnTo>
                    <a:pt x="0" y="0"/>
                  </a:lnTo>
                  <a:lnTo>
                    <a:pt x="0" y="323088"/>
                  </a:lnTo>
                  <a:lnTo>
                    <a:pt x="144780" y="323088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C78B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21995" y="688593"/>
            <a:ext cx="2085339" cy="3035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i="0" spc="-60" dirty="0">
                <a:solidFill>
                  <a:srgbClr val="C78B31"/>
                </a:solidFill>
                <a:latin typeface="Times New Roman"/>
                <a:cs typeface="Times New Roman"/>
              </a:rPr>
              <a:t>MONEY</a:t>
            </a:r>
            <a:r>
              <a:rPr i="0" spc="-55" dirty="0">
                <a:solidFill>
                  <a:srgbClr val="C78B31"/>
                </a:solidFill>
                <a:latin typeface="Times New Roman"/>
                <a:cs typeface="Times New Roman"/>
              </a:rPr>
              <a:t> </a:t>
            </a:r>
            <a:r>
              <a:rPr i="0" spc="-65" dirty="0">
                <a:solidFill>
                  <a:srgbClr val="C78B31"/>
                </a:solidFill>
                <a:latin typeface="Times New Roman"/>
                <a:cs typeface="Times New Roman"/>
              </a:rPr>
              <a:t>TRANSFER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23520" y="1058036"/>
            <a:ext cx="438023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FFFFFF"/>
                </a:solidFill>
                <a:latin typeface="Times New Roman"/>
                <a:cs typeface="Times New Roman"/>
              </a:rPr>
              <a:t>Money</a:t>
            </a:r>
            <a:r>
              <a:rPr sz="1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transfer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refers</a:t>
            </a:r>
            <a:r>
              <a:rPr sz="1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process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Times New Roman"/>
                <a:cs typeface="Times New Roman"/>
              </a:rPr>
              <a:t>sending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receiving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funds</a:t>
            </a:r>
            <a:r>
              <a:rPr sz="1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from </a:t>
            </a:r>
            <a:r>
              <a:rPr sz="1200" spc="-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one person or entity to another. It has become an increasingly common </a:t>
            </a:r>
            <a:r>
              <a:rPr sz="1200" spc="-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Times New Roman"/>
                <a:cs typeface="Times New Roman"/>
              </a:rPr>
              <a:t>way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for people to </a:t>
            </a:r>
            <a:r>
              <a:rPr sz="1200" spc="-5" dirty="0">
                <a:solidFill>
                  <a:srgbClr val="FFFFFF"/>
                </a:solidFill>
                <a:latin typeface="Times New Roman"/>
                <a:cs typeface="Times New Roman"/>
              </a:rPr>
              <a:t>send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and receive money quickly and </a:t>
            </a:r>
            <a:r>
              <a:rPr sz="1200" spc="-5" dirty="0">
                <a:solidFill>
                  <a:srgbClr val="FFFFFF"/>
                </a:solidFill>
                <a:latin typeface="Times New Roman"/>
                <a:cs typeface="Times New Roman"/>
              </a:rPr>
              <a:t>securely,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both </a:t>
            </a:r>
            <a:r>
              <a:rPr sz="1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locally and internationally. With the rise of digital technology, many </a:t>
            </a:r>
            <a:r>
              <a:rPr sz="1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money transfer </a:t>
            </a:r>
            <a:r>
              <a:rPr sz="1200" spc="-5" dirty="0">
                <a:solidFill>
                  <a:srgbClr val="FFFFFF"/>
                </a:solidFill>
                <a:latin typeface="Times New Roman"/>
                <a:cs typeface="Times New Roman"/>
              </a:rPr>
              <a:t>services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have emerged that allow users to transfer </a:t>
            </a:r>
            <a:r>
              <a:rPr sz="1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money</a:t>
            </a:r>
            <a:r>
              <a:rPr sz="1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online or</a:t>
            </a:r>
            <a:r>
              <a:rPr sz="1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through mobile apps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67200" y="242341"/>
            <a:ext cx="4876800" cy="4901158"/>
          </a:xfrm>
          <a:prstGeom prst="rect">
            <a:avLst/>
          </a:prstGeom>
        </p:spPr>
      </p:pic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70195" y="2708211"/>
          <a:ext cx="4563110" cy="23869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8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3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113">
                <a:tc>
                  <a:txBody>
                    <a:bodyPr/>
                    <a:lstStyle/>
                    <a:p>
                      <a:pPr marL="28194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400" b="1" dirty="0">
                          <a:solidFill>
                            <a:srgbClr val="C78B31"/>
                          </a:solidFill>
                          <a:latin typeface="Arial"/>
                          <a:cs typeface="Arial"/>
                        </a:rPr>
                        <a:t>LMS</a:t>
                      </a:r>
                      <a:r>
                        <a:rPr sz="1400" b="1" spc="-55" dirty="0">
                          <a:solidFill>
                            <a:srgbClr val="C78B3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C78B31"/>
                          </a:solidFill>
                          <a:latin typeface="Arial"/>
                          <a:cs typeface="Arial"/>
                        </a:rPr>
                        <a:t>Username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21366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400" b="1" dirty="0">
                          <a:solidFill>
                            <a:srgbClr val="C78B31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213669"/>
                    </a:solidFill>
                  </a:tcPr>
                </a:tc>
                <a:tc>
                  <a:txBody>
                    <a:bodyPr/>
                    <a:lstStyle/>
                    <a:p>
                      <a:pPr marL="18605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400" b="1" dirty="0">
                          <a:solidFill>
                            <a:srgbClr val="C78B31"/>
                          </a:solidFill>
                          <a:latin typeface="Arial"/>
                          <a:cs typeface="Arial"/>
                        </a:rPr>
                        <a:t>Batch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213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4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2115a920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8636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21366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4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GOKULA</a:t>
                      </a:r>
                      <a:r>
                        <a:rPr sz="1400" spc="-3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KRISHNAN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8636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213669"/>
                    </a:solidFill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140335">
                        <a:lnSpc>
                          <a:spcPct val="100000"/>
                        </a:lnSpc>
                      </a:pPr>
                      <a:r>
                        <a:rPr sz="14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A9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213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1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4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2115a921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8699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21366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4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GOKULNATH</a:t>
                      </a:r>
                      <a:r>
                        <a:rPr sz="1400" spc="-3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K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8699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21366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213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1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4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2115a941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8699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21366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4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RAMVILAS</a:t>
                      </a:r>
                      <a:r>
                        <a:rPr sz="1400" spc="-3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H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8699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21366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213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1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4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2115a930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8699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21366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4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KARTHIKEYAN</a:t>
                      </a:r>
                      <a:r>
                        <a:rPr sz="1400" spc="-3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B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8699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21366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213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93" y="37785"/>
            <a:ext cx="9107942" cy="17872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71272" y="2976372"/>
            <a:ext cx="175260" cy="1325245"/>
            <a:chOff x="271272" y="2976372"/>
            <a:chExt cx="175260" cy="1325245"/>
          </a:xfrm>
        </p:grpSpPr>
        <p:sp>
          <p:nvSpPr>
            <p:cNvPr id="4" name="object 4"/>
            <p:cNvSpPr/>
            <p:nvPr/>
          </p:nvSpPr>
          <p:spPr>
            <a:xfrm>
              <a:off x="271272" y="2976372"/>
              <a:ext cx="175260" cy="375285"/>
            </a:xfrm>
            <a:custGeom>
              <a:avLst/>
              <a:gdLst/>
              <a:ahLst/>
              <a:cxnLst/>
              <a:rect l="l" t="t" r="r" b="b"/>
              <a:pathLst>
                <a:path w="175259" h="375285">
                  <a:moveTo>
                    <a:pt x="175259" y="0"/>
                  </a:moveTo>
                  <a:lnTo>
                    <a:pt x="0" y="0"/>
                  </a:lnTo>
                  <a:lnTo>
                    <a:pt x="0" y="374904"/>
                  </a:lnTo>
                  <a:lnTo>
                    <a:pt x="175259" y="374904"/>
                  </a:lnTo>
                  <a:lnTo>
                    <a:pt x="175259" y="0"/>
                  </a:lnTo>
                  <a:close/>
                </a:path>
              </a:pathLst>
            </a:custGeom>
            <a:solidFill>
              <a:srgbClr val="C78B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8140" y="3188208"/>
              <a:ext cx="0" cy="1113155"/>
            </a:xfrm>
            <a:custGeom>
              <a:avLst/>
              <a:gdLst/>
              <a:ahLst/>
              <a:cxnLst/>
              <a:rect l="l" t="t" r="r" b="b"/>
              <a:pathLst>
                <a:path h="1113154">
                  <a:moveTo>
                    <a:pt x="0" y="0"/>
                  </a:moveTo>
                  <a:lnTo>
                    <a:pt x="0" y="1112837"/>
                  </a:lnTo>
                </a:path>
              </a:pathLst>
            </a:custGeom>
            <a:ln w="12700">
              <a:solidFill>
                <a:srgbClr val="C78B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71272" y="225552"/>
            <a:ext cx="175260" cy="2253615"/>
            <a:chOff x="271272" y="225552"/>
            <a:chExt cx="175260" cy="2253615"/>
          </a:xfrm>
        </p:grpSpPr>
        <p:sp>
          <p:nvSpPr>
            <p:cNvPr id="7" name="object 7"/>
            <p:cNvSpPr/>
            <p:nvPr/>
          </p:nvSpPr>
          <p:spPr>
            <a:xfrm>
              <a:off x="358140" y="431292"/>
              <a:ext cx="0" cy="2047875"/>
            </a:xfrm>
            <a:custGeom>
              <a:avLst/>
              <a:gdLst/>
              <a:ahLst/>
              <a:cxnLst/>
              <a:rect l="l" t="t" r="r" b="b"/>
              <a:pathLst>
                <a:path h="2047875">
                  <a:moveTo>
                    <a:pt x="0" y="0"/>
                  </a:moveTo>
                  <a:lnTo>
                    <a:pt x="0" y="2047494"/>
                  </a:lnTo>
                </a:path>
              </a:pathLst>
            </a:custGeom>
            <a:ln w="12700">
              <a:solidFill>
                <a:srgbClr val="21366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1272" y="225552"/>
              <a:ext cx="175260" cy="375285"/>
            </a:xfrm>
            <a:custGeom>
              <a:avLst/>
              <a:gdLst/>
              <a:ahLst/>
              <a:cxnLst/>
              <a:rect l="l" t="t" r="r" b="b"/>
              <a:pathLst>
                <a:path w="175259" h="375284">
                  <a:moveTo>
                    <a:pt x="175259" y="0"/>
                  </a:moveTo>
                  <a:lnTo>
                    <a:pt x="0" y="0"/>
                  </a:lnTo>
                  <a:lnTo>
                    <a:pt x="0" y="374903"/>
                  </a:lnTo>
                  <a:lnTo>
                    <a:pt x="175259" y="374903"/>
                  </a:lnTo>
                  <a:lnTo>
                    <a:pt x="175259" y="0"/>
                  </a:lnTo>
                  <a:close/>
                </a:path>
              </a:pathLst>
            </a:custGeom>
            <a:solidFill>
              <a:srgbClr val="213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56484" y="1397148"/>
            <a:ext cx="3181222" cy="3469863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24662" y="253060"/>
            <a:ext cx="21856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spc="-20" dirty="0">
                <a:solidFill>
                  <a:srgbClr val="213669"/>
                </a:solidFill>
                <a:latin typeface="Times New Roman"/>
                <a:cs typeface="Times New Roman"/>
              </a:rPr>
              <a:t>Step-Wise</a:t>
            </a:r>
            <a:r>
              <a:rPr i="0" spc="-65" dirty="0">
                <a:solidFill>
                  <a:srgbClr val="213669"/>
                </a:solidFill>
                <a:latin typeface="Times New Roman"/>
                <a:cs typeface="Times New Roman"/>
              </a:rPr>
              <a:t> </a:t>
            </a:r>
            <a:r>
              <a:rPr i="0" dirty="0">
                <a:solidFill>
                  <a:srgbClr val="213669"/>
                </a:solidFill>
                <a:latin typeface="Times New Roman"/>
                <a:cs typeface="Times New Roman"/>
              </a:rPr>
              <a:t>Description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24662" y="707516"/>
            <a:ext cx="7430134" cy="1094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4445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Times New Roman"/>
                <a:cs typeface="Times New Roman"/>
              </a:rPr>
              <a:t>These </a:t>
            </a:r>
            <a:r>
              <a:rPr sz="1400" spc="-5" dirty="0">
                <a:latin typeface="Times New Roman"/>
                <a:cs typeface="Times New Roman"/>
              </a:rPr>
              <a:t>services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often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offer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faster transaction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times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lower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fees compared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traditional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methods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such </a:t>
            </a:r>
            <a:r>
              <a:rPr sz="1400" spc="-3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 bank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transfers or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wire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transfers. </a:t>
            </a:r>
            <a:r>
              <a:rPr sz="1400" spc="-5" dirty="0">
                <a:latin typeface="Times New Roman"/>
                <a:cs typeface="Times New Roman"/>
              </a:rPr>
              <a:t>Money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transfer is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used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 a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variety of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purposes,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including </a:t>
            </a:r>
            <a:r>
              <a:rPr sz="1400" spc="-5" dirty="0">
                <a:latin typeface="Times New Roman"/>
                <a:cs typeface="Times New Roman"/>
              </a:rPr>
              <a:t>sending </a:t>
            </a:r>
            <a:r>
              <a:rPr sz="1400" dirty="0">
                <a:latin typeface="Times New Roman"/>
                <a:cs typeface="Times New Roman"/>
              </a:rPr>
              <a:t> money to family and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friends, paying bills, making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online purchases, and conducting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business 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transactions. </a:t>
            </a:r>
            <a:r>
              <a:rPr sz="1400" spc="-5" dirty="0">
                <a:latin typeface="Times New Roman"/>
                <a:cs typeface="Times New Roman"/>
              </a:rPr>
              <a:t>However,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it's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important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cautious </a:t>
            </a:r>
            <a:r>
              <a:rPr sz="1400" spc="-5" dirty="0">
                <a:latin typeface="Times New Roman"/>
                <a:cs typeface="Times New Roman"/>
              </a:rPr>
              <a:t>when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using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money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transfer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services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 to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only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 </a:t>
            </a:r>
            <a:r>
              <a:rPr sz="1400" spc="-3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reputable providers to ensure the </a:t>
            </a:r>
            <a:r>
              <a:rPr sz="1400" spc="-5" dirty="0">
                <a:latin typeface="Times New Roman"/>
                <a:cs typeface="Times New Roman"/>
              </a:rPr>
              <a:t>safety</a:t>
            </a:r>
            <a:r>
              <a:rPr sz="1400" dirty="0">
                <a:latin typeface="Times New Roman"/>
                <a:cs typeface="Times New Roman"/>
              </a:rPr>
              <a:t> and </a:t>
            </a:r>
            <a:r>
              <a:rPr sz="1400" spc="-5" dirty="0">
                <a:latin typeface="Times New Roman"/>
                <a:cs typeface="Times New Roman"/>
              </a:rPr>
              <a:t>security</a:t>
            </a:r>
            <a:r>
              <a:rPr sz="1400" dirty="0">
                <a:latin typeface="Times New Roman"/>
                <a:cs typeface="Times New Roman"/>
              </a:rPr>
              <a:t> of your funds.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2922" y="2558857"/>
            <a:ext cx="6187440" cy="239585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800" b="1" spc="-60" dirty="0">
                <a:solidFill>
                  <a:srgbClr val="C78B31"/>
                </a:solidFill>
                <a:latin typeface="Times New Roman"/>
                <a:cs typeface="Times New Roman"/>
              </a:rPr>
              <a:t>Summary</a:t>
            </a:r>
            <a:r>
              <a:rPr sz="1800" b="1" spc="-50" dirty="0">
                <a:solidFill>
                  <a:srgbClr val="C78B31"/>
                </a:solidFill>
                <a:latin typeface="Times New Roman"/>
                <a:cs typeface="Times New Roman"/>
              </a:rPr>
              <a:t> </a:t>
            </a:r>
            <a:r>
              <a:rPr sz="1800" b="1" spc="25" dirty="0">
                <a:solidFill>
                  <a:srgbClr val="C78B31"/>
                </a:solidFill>
                <a:latin typeface="Times New Roman"/>
                <a:cs typeface="Times New Roman"/>
              </a:rPr>
              <a:t>of</a:t>
            </a:r>
            <a:r>
              <a:rPr sz="1800" b="1" spc="-20" dirty="0">
                <a:solidFill>
                  <a:srgbClr val="C78B31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C78B31"/>
                </a:solidFill>
                <a:latin typeface="Times New Roman"/>
                <a:cs typeface="Times New Roman"/>
              </a:rPr>
              <a:t>your </a:t>
            </a:r>
            <a:r>
              <a:rPr sz="1800" b="1" spc="-30" dirty="0">
                <a:solidFill>
                  <a:srgbClr val="C78B31"/>
                </a:solidFill>
                <a:latin typeface="Times New Roman"/>
                <a:cs typeface="Times New Roman"/>
              </a:rPr>
              <a:t>task</a:t>
            </a:r>
            <a:endParaRPr sz="1800">
              <a:latin typeface="Times New Roman"/>
              <a:cs typeface="Times New Roman"/>
            </a:endParaRPr>
          </a:p>
          <a:p>
            <a:pPr marL="138430" marR="5080">
              <a:lnSpc>
                <a:spcPct val="100000"/>
              </a:lnSpc>
              <a:spcBef>
                <a:spcPts val="605"/>
              </a:spcBef>
            </a:pPr>
            <a:r>
              <a:rPr sz="1400" dirty="0">
                <a:latin typeface="Arial MT"/>
                <a:cs typeface="Arial MT"/>
              </a:rPr>
              <a:t>In conclusion, money transfer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is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an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essential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part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of</a:t>
            </a:r>
            <a:r>
              <a:rPr sz="1400" dirty="0">
                <a:latin typeface="Arial MT"/>
                <a:cs typeface="Arial MT"/>
              </a:rPr>
              <a:t> modern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financial 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transactions, </a:t>
            </a:r>
            <a:r>
              <a:rPr sz="1400" spc="-5" dirty="0">
                <a:latin typeface="Arial MT"/>
                <a:cs typeface="Arial MT"/>
              </a:rPr>
              <a:t>allowing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individuals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and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businesses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send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and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receive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funds 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quickly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and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securely </a:t>
            </a:r>
            <a:r>
              <a:rPr sz="1400" spc="-5" dirty="0">
                <a:latin typeface="Arial MT"/>
                <a:cs typeface="Arial MT"/>
              </a:rPr>
              <a:t>across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borders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and</a:t>
            </a:r>
            <a:r>
              <a:rPr sz="1400" dirty="0">
                <a:latin typeface="Arial MT"/>
                <a:cs typeface="Arial MT"/>
              </a:rPr>
              <a:t> currencies.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With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 rise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of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digital 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payment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technologies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and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mobile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banking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apps,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it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is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now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easier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than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ever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 </a:t>
            </a:r>
            <a:r>
              <a:rPr sz="1400" spc="-3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transfer money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with</a:t>
            </a:r>
            <a:r>
              <a:rPr sz="1400" dirty="0">
                <a:latin typeface="Arial MT"/>
                <a:cs typeface="Arial MT"/>
              </a:rPr>
              <a:t> minimal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fees </a:t>
            </a:r>
            <a:r>
              <a:rPr sz="1400" spc="-5" dirty="0">
                <a:latin typeface="Arial MT"/>
                <a:cs typeface="Arial MT"/>
              </a:rPr>
              <a:t>and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hassle.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However,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it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is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important</a:t>
            </a:r>
            <a:r>
              <a:rPr sz="1400" dirty="0">
                <a:latin typeface="Arial MT"/>
                <a:cs typeface="Arial MT"/>
              </a:rPr>
              <a:t> to 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choose a reputable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and</a:t>
            </a:r>
            <a:r>
              <a:rPr sz="1400" dirty="0">
                <a:latin typeface="Arial MT"/>
                <a:cs typeface="Arial MT"/>
              </a:rPr>
              <a:t> reliable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money transfer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service </a:t>
            </a:r>
            <a:r>
              <a:rPr sz="1400" spc="-5" dirty="0">
                <a:latin typeface="Arial MT"/>
                <a:cs typeface="Arial MT"/>
              </a:rPr>
              <a:t>provider,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compare 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fees </a:t>
            </a:r>
            <a:r>
              <a:rPr sz="1400" spc="-5" dirty="0">
                <a:latin typeface="Arial MT"/>
                <a:cs typeface="Arial MT"/>
              </a:rPr>
              <a:t>and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exchange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rates,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and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take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necessary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precautions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protect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against </a:t>
            </a:r>
            <a:r>
              <a:rPr sz="1400" dirty="0">
                <a:latin typeface="Arial MT"/>
                <a:cs typeface="Arial MT"/>
              </a:rPr>
              <a:t> fraud </a:t>
            </a:r>
            <a:r>
              <a:rPr sz="1400" spc="-5" dirty="0">
                <a:latin typeface="Arial MT"/>
                <a:cs typeface="Arial MT"/>
              </a:rPr>
              <a:t>and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identity</a:t>
            </a:r>
            <a:r>
              <a:rPr sz="1400" dirty="0">
                <a:latin typeface="Arial MT"/>
                <a:cs typeface="Arial MT"/>
              </a:rPr>
              <a:t> theft.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By following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these </a:t>
            </a:r>
            <a:r>
              <a:rPr sz="1400" spc="-5" dirty="0">
                <a:latin typeface="Arial MT"/>
                <a:cs typeface="Arial MT"/>
              </a:rPr>
              <a:t>best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practices,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individuals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can 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ensure</a:t>
            </a:r>
            <a:r>
              <a:rPr sz="1400" dirty="0">
                <a:latin typeface="Arial MT"/>
                <a:cs typeface="Arial MT"/>
              </a:rPr>
              <a:t> that their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money transfers </a:t>
            </a:r>
            <a:r>
              <a:rPr sz="1400" spc="-5" dirty="0">
                <a:latin typeface="Arial MT"/>
                <a:cs typeface="Arial MT"/>
              </a:rPr>
              <a:t>are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safe, </a:t>
            </a:r>
            <a:r>
              <a:rPr sz="1400" spc="-5" dirty="0">
                <a:latin typeface="Arial MT"/>
                <a:cs typeface="Arial MT"/>
              </a:rPr>
              <a:t>efficient,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and</a:t>
            </a:r>
            <a:r>
              <a:rPr sz="1400" dirty="0">
                <a:latin typeface="Arial MT"/>
                <a:cs typeface="Arial MT"/>
              </a:rPr>
              <a:t> cost-effective.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"/>
            <a:ext cx="9144000" cy="514347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2240279" y="1408175"/>
            <a:ext cx="4811395" cy="76200"/>
          </a:xfrm>
          <a:custGeom>
            <a:avLst/>
            <a:gdLst/>
            <a:ahLst/>
            <a:cxnLst/>
            <a:rect l="l" t="t" r="r" b="b"/>
            <a:pathLst>
              <a:path w="4811395" h="76200">
                <a:moveTo>
                  <a:pt x="4811268" y="0"/>
                </a:moveTo>
                <a:lnTo>
                  <a:pt x="0" y="0"/>
                </a:lnTo>
                <a:lnTo>
                  <a:pt x="0" y="76200"/>
                </a:lnTo>
                <a:lnTo>
                  <a:pt x="4811268" y="76200"/>
                </a:lnTo>
                <a:lnTo>
                  <a:pt x="4811268" y="0"/>
                </a:lnTo>
                <a:close/>
              </a:path>
            </a:pathLst>
          </a:custGeom>
          <a:solidFill>
            <a:srgbClr val="EFC7C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2907" y="1784604"/>
            <a:ext cx="1181099" cy="11811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232660" y="614172"/>
            <a:ext cx="4819015" cy="794385"/>
          </a:xfrm>
          <a:custGeom>
            <a:avLst/>
            <a:gdLst/>
            <a:ahLst/>
            <a:cxnLst/>
            <a:rect l="l" t="t" r="r" b="b"/>
            <a:pathLst>
              <a:path w="4819015" h="794385">
                <a:moveTo>
                  <a:pt x="4818888" y="0"/>
                </a:moveTo>
                <a:lnTo>
                  <a:pt x="0" y="0"/>
                </a:lnTo>
                <a:lnTo>
                  <a:pt x="0" y="794003"/>
                </a:lnTo>
                <a:lnTo>
                  <a:pt x="4818888" y="794003"/>
                </a:lnTo>
                <a:lnTo>
                  <a:pt x="4818888" y="0"/>
                </a:lnTo>
                <a:close/>
              </a:path>
            </a:pathLst>
          </a:custGeom>
          <a:solidFill>
            <a:srgbClr val="2136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2240" algn="ctr">
              <a:lnSpc>
                <a:spcPct val="100000"/>
              </a:lnSpc>
              <a:spcBef>
                <a:spcPts val="100"/>
              </a:spcBef>
            </a:pPr>
            <a:r>
              <a:rPr spc="330" dirty="0"/>
              <a:t>S</a:t>
            </a:r>
            <a:r>
              <a:rPr spc="40" dirty="0"/>
              <a:t>ubmiss</a:t>
            </a:r>
            <a:r>
              <a:rPr spc="-30" dirty="0"/>
              <a:t>ion</a:t>
            </a:r>
            <a:r>
              <a:rPr spc="-180" dirty="0"/>
              <a:t> </a:t>
            </a:r>
            <a:r>
              <a:rPr spc="10" dirty="0"/>
              <a:t>Github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048505" y="1812569"/>
            <a:ext cx="2837180" cy="124970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0175" marR="231775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Arial"/>
                <a:cs typeface="Arial"/>
              </a:rPr>
              <a:t>GitHub</a:t>
            </a:r>
            <a:r>
              <a:rPr sz="1400" dirty="0">
                <a:latin typeface="Arial MT"/>
                <a:cs typeface="Arial MT"/>
              </a:rPr>
              <a:t>: 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lang="en-US" sz="1400" spc="5" dirty="0">
                <a:latin typeface="Arial MT"/>
                <a:cs typeface="Arial MT"/>
              </a:rPr>
              <a:t>https://github.com/gokulnath7707/task-5.git</a:t>
            </a:r>
            <a:endParaRPr sz="1400" dirty="0">
              <a:latin typeface="Arial MT"/>
              <a:cs typeface="Arial MT"/>
            </a:endParaRPr>
          </a:p>
          <a:p>
            <a:pPr marL="132715">
              <a:lnSpc>
                <a:spcPts val="1560"/>
              </a:lnSpc>
              <a:spcBef>
                <a:spcPts val="245"/>
              </a:spcBef>
            </a:pPr>
            <a:r>
              <a:rPr sz="1400" b="1" spc="-5" dirty="0" err="1">
                <a:latin typeface="Arial"/>
                <a:cs typeface="Arial"/>
              </a:rPr>
              <a:t>Livelink:</a:t>
            </a:r>
            <a:r>
              <a:rPr lang="en-US" sz="1400" b="1" spc="-5" dirty="0" err="1">
                <a:latin typeface="Arial"/>
                <a:cs typeface="Arial"/>
              </a:rPr>
              <a:t>https</a:t>
            </a:r>
            <a:r>
              <a:rPr lang="en-US" sz="1400" b="1" spc="-5" dirty="0">
                <a:latin typeface="Arial"/>
                <a:cs typeface="Arial"/>
              </a:rPr>
              <a:t>://</a:t>
            </a:r>
            <a:r>
              <a:rPr lang="en-US" sz="1400" b="1" spc="-5" dirty="0" err="1">
                <a:latin typeface="Arial"/>
                <a:cs typeface="Arial"/>
              </a:rPr>
              <a:t>moneywebsite.onrender.com</a:t>
            </a:r>
            <a:r>
              <a:rPr lang="en-US" sz="1400" b="1" spc="-5" dirty="0">
                <a:latin typeface="Arial"/>
                <a:cs typeface="Arial"/>
              </a:rPr>
              <a:t>/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endParaRPr sz="11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(16:9)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MONEY TRANSFER</vt:lpstr>
      <vt:lpstr>Step-Wise Description</vt:lpstr>
      <vt:lpstr>Submission Github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Manish Sharma</dc:creator>
  <cp:lastModifiedBy>Ram Vilas</cp:lastModifiedBy>
  <cp:revision>1</cp:revision>
  <dcterms:created xsi:type="dcterms:W3CDTF">2023-05-13T17:39:53Z</dcterms:created>
  <dcterms:modified xsi:type="dcterms:W3CDTF">2023-05-13T17:46:38Z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2023-05-13T00:00:00Z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2023-05-13T00:00:00Z</vt:filetime>
  </property>
</Properties>
</file>